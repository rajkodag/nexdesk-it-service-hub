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10058400" cy="5029200"/>
          </a:xfrm>
          <a:prstGeom prst="roundRect">
            <a:avLst/>
          </a:prstGeom>
          <a:solidFill>
            <a:srgbClr val="1821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371600"/>
            <a:ext cx="329184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NEXT-GEN IT SERVICE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961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Arial"/>
              </a:defRPr>
            </a:pPr>
            <a:r>
              <a:t>NexDesk 2.0 — Autonomous IT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01752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6B6D4"/>
                </a:solidFill>
                <a:latin typeface="Arial"/>
              </a:defRPr>
            </a:pPr>
            <a:r>
              <a:t>Project Progress, Architecture Implementation, Problem Resolution &amp; Completion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114800"/>
            <a:ext cx="89611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CORE STACK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Java 21+ • Oracle XE • Modern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42976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KEY FEATURES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AI Co-Pilot • Device Passport • Blast Radius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CURRENT STATUS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Modules Implemented • Beta Testing • 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29768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REVIEW STAGE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Mid-Project Review 2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NEXDESK 2.0 •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Executive Overview &amp; Problem-Solution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1071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Traditional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4495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Passive Help Desks: Jira/ServiceNow wait for tickets to pile up.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Missing Diagnostics: IT agents waste hours asking 'What OS, RAM, IP are you on?'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Subjective Urgency: Users mark every ticket as 'CRITICAL'.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Slow MTTR &amp; Repetitive Triage: Techs manually type the same Wi-Fi/VPN fix 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41071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NexDesk 2.0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4495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AI Self-Healing Co-Pilot: Real-time symptom triage with 1-click self-fix runbooks.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Digital Device Passport: Automatic client-side telemetry capture without agents.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Blast Radius Matrix: Objective 2D impact calculator (Scope × Blocker severity).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IT Ops Mission Control: Interactive Kanban dispatch cockpit &amp; SLA countdowns.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410712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Impact &amp; Business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4495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Ticket Deflection: ~35% zero-ticket resolution via self-fix playbooks.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74+ Hours Saved: Telemetry snapshot eliminates diagnostic back-and-forth.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MTTR Reduction: Mean Time to Resolution cut from 4.5h to 1.8h.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SLA Adherence: 94.6% compliance rate across critical and high incidents.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1 • PROGRESS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Milestone Performance: Planned vs. Actual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59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463040"/>
                <a:gridCol w="3685032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Module / Workstream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Planned Target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Actual Delivery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Variance &amp; Technical Outcome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Architecture &amp; DB Design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1 - 2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1 - 2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Oracle XE schema, sequences, tables &amp; connection pooling setup.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User &amp; Tech Auth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2 - 3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2 - 3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Role-based auth (User vs Admin), 1-click demo logins integrated.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AI Self-Healing Co-Pilot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3 - 4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3 - 4.5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COMPLETED (+3d)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Real-time regex triage, 1-click self-fix runbooks &amp; deflection counter.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Digital Device Passport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4 - 5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4 - 5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Client-side navigator telemetry snapshot (OS, RAM, Latency, IP).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Mission Control Kanban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5 - 6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5 - 6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Multi-column drag-and-drop dispatcher cockpit with live SLA countdowns.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Two-Way Thread &amp; Tech Notes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6 - 7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6 - 7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Public replies + private internal technician notes &amp; audit log.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IT Ops Velocity Analytics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7 - 8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Weeks 7 - 8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Real-time MTTR, FCR, SLA compliance, technician leaderboards.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1 • GANTT CHART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Project Execution Gantt Chart: Planned vs. Actual Timelines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9144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■ Planned Schedule (Blue)     ■ Actual Progress (Cyan/Green)     ■ Milestone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5912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W7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W8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W9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87000" y="1463040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W10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1828800"/>
            <a:ext cx="9144" cy="4297680"/>
          </a:xfrm>
          <a:prstGeom prst="rect">
            <a:avLst/>
          </a:prstGeom>
          <a:solidFill>
            <a:srgbClr val="28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99348" y="1737360"/>
            <a:ext cx="27432" cy="4389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3004" y="58978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F4444"/>
                </a:solidFill>
              </a:defRPr>
            </a:pPr>
            <a:r>
              <a:t>▲ CURRENT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874520"/>
            <a:ext cx="22860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1. Architecture &amp; Oracle 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1920240"/>
            <a:ext cx="155448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91840" y="2066544"/>
            <a:ext cx="1554480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19933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Done (100%)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368296"/>
            <a:ext cx="22860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2. Role-Based Auth &amp; Users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90872" y="2414016"/>
            <a:ext cx="1088136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90872" y="2560320"/>
            <a:ext cx="1088136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0448" y="24871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Done (100%)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2862072"/>
            <a:ext cx="22860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3. AI Diagnostics &amp; Runbooks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2907792"/>
            <a:ext cx="932688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23560" y="3054096"/>
            <a:ext cx="1243583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58584" y="298094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Done (100%)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355848"/>
            <a:ext cx="22860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4. Device Passport Telemetry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401568"/>
            <a:ext cx="77724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56248" y="3547872"/>
            <a:ext cx="777240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24928" y="3474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Done (100%)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3849624"/>
            <a:ext cx="22860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5. Kanban Board &amp; SLAs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78040" y="3895344"/>
            <a:ext cx="932688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178040" y="4041648"/>
            <a:ext cx="1088136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39684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Done (100%)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343400"/>
            <a:ext cx="22860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6. Collaboration &amp; Notes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80" y="4389120"/>
            <a:ext cx="77724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955280" y="4535424"/>
            <a:ext cx="777240" cy="16459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44622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Done (100%)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837176"/>
            <a:ext cx="22860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7. LLM Deep Integration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4882896"/>
            <a:ext cx="116586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732520" y="5029200"/>
            <a:ext cx="777240" cy="16459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4956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In Progress (30%)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30952"/>
            <a:ext cx="2286000" cy="4114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8. Final Testing &amp; Polish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60" y="5376672"/>
            <a:ext cx="155448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665208" y="5522976"/>
            <a:ext cx="1399032" cy="164592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155680" y="544982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94A3B8"/>
                </a:solidFill>
              </a:defRPr>
            </a:pPr>
            <a:r>
              <a:t>Scheduled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2 • 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Architecture: 3-Tier Enterprise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10712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TIER 1: PRESENTATION LAYER</a:t>
            </a:r>
          </a:p>
          <a:p>
            <a:pPr>
              <a:defRPr sz="1000">
                <a:solidFill>
                  <a:srgbClr val="E6F0FF"/>
                </a:solidFill>
              </a:defRPr>
            </a:pPr>
            <a:r>
              <a:t>Modern Web Client (Responsive 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0449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Vanilla ES6+ Modules (Zero heavy bundle overhead)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Glassmorphism UI Engine with dynamic backdrop-filter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Client-Side Telemetry Agent (Digital Device Passport)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Blast Radius Matrix UI (Real-time dynamic scoring)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Interactive Kanban Dispatch Board with drag-and-drop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1-Click Dark/Light Cyberpunk Theme Switching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410712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TIER 2: APPLICATION SERVICES</a:t>
            </a:r>
          </a:p>
          <a:p>
            <a:pPr>
              <a:defRPr sz="1000">
                <a:solidFill>
                  <a:srgbClr val="E6F0FF"/>
                </a:solidFill>
              </a:defRPr>
            </a:pPr>
            <a:r>
              <a:t>Native Java 21+ Multi-Threaded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30449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Native Sun HttpServer (Lightweight, zero bloat, high RPS)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CachedThreadPool Executor for high concurrency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AiDiagnosticService: Symptom pattern matching &amp; runbooks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SLA Computation Engine: Real-time countdowns &amp; breach flags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TicketService &amp; TechnicianService: Business logic &amp; dispatch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RESTful JSON Endpoints with CORS &amp; Preflight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41071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TIER 3: PERSISTENCE &amp; DATA</a:t>
            </a:r>
          </a:p>
          <a:p>
            <a:pPr>
              <a:defRPr sz="1000">
                <a:solidFill>
                  <a:srgbClr val="E6F0FF"/>
                </a:solidFill>
              </a:defRPr>
            </a:pPr>
            <a:r>
              <a:t>Oracle XE / XEPDB1 Database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30449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Oracle Database XE (Port 1521, Service XEPDB1)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Enterprise JDBC Driver (ojdbc11.jar)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Normalized Relational Schema (NX_USERS, NX_TICKETS, etc.)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Sequence-driven primary keys (NX_USER_SEQ, NX_TICKET_SEQ)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Concurrent In-Memory Metadata Store for rich telemetry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✔ DatabaseManager Connection Pool with fallback resilience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2 • 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Technology Stack &amp; Tooling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39512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Backend &amp; Core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Java 21 LTS: </a:t>
            </a:r>
            <a:r>
              <a:rPr b="0">
                <a:solidFill>
                  <a:srgbClr val="F8FAFC"/>
                </a:solidFill>
              </a:rPr>
              <a:t>Core programming language; virtual threads &amp; modern pattern matching.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com.sun.net.httpserver: </a:t>
            </a:r>
            <a:r>
              <a:rPr b="0">
                <a:solidFill>
                  <a:srgbClr val="F8FAFC"/>
                </a:solidFill>
              </a:rPr>
              <a:t>Zero-dependency, high-throughput micro-webserver.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ojdbc11.jar: </a:t>
            </a:r>
            <a:r>
              <a:rPr b="0">
                <a:solidFill>
                  <a:srgbClr val="F8FAFC"/>
                </a:solidFill>
              </a:rPr>
              <a:t>Official Oracle Database 21c/23c enterprise JDBC driver.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CachedThreadPool: </a:t>
            </a:r>
            <a:r>
              <a:rPr b="0">
                <a:solidFill>
                  <a:srgbClr val="F8FAFC"/>
                </a:solidFill>
              </a:rPr>
              <a:t>Multi-threaded async execution for concurrent API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3951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Database &amp;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Oracle Database XE: </a:t>
            </a:r>
            <a:r>
              <a:rPr b="0">
                <a:solidFill>
                  <a:srgbClr val="F8FAFC"/>
                </a:solidFill>
              </a:rPr>
              <a:t>Enterprise relational database running on container XEPDB1.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Oracle Sequences: </a:t>
            </a:r>
            <a:r>
              <a:rPr b="0">
                <a:solidFill>
                  <a:srgbClr val="F8FAFC"/>
                </a:solidFill>
              </a:rPr>
              <a:t>Autonomous atomic sequence generators for primary IDs.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Foreign Key Integrity: </a:t>
            </a:r>
            <a:r>
              <a:rPr b="0">
                <a:solidFill>
                  <a:srgbClr val="F8FAFC"/>
                </a:solidFill>
              </a:rPr>
              <a:t>Cascading rules and referential constraints on tickets.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ConcurrentHashMap: </a:t>
            </a:r>
            <a:r>
              <a:rPr b="0">
                <a:solidFill>
                  <a:srgbClr val="F8FAFC"/>
                </a:solidFill>
              </a:rPr>
              <a:t>Thread-safe fast cache for unstructured telemetry JSON.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5239512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Frontend &amp; User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HTML5 &amp; Modern CSS3: </a:t>
            </a:r>
            <a:r>
              <a:rPr b="0">
                <a:solidFill>
                  <a:srgbClr val="F8FAFC"/>
                </a:solidFill>
              </a:rPr>
              <a:t>CSS Custom Properties, Flexbox &amp; CSS Grid for fluid layouts.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Glassmorphism Engine: </a:t>
            </a:r>
            <a:r>
              <a:rPr b="0">
                <a:solidFill>
                  <a:srgbClr val="F8FAFC"/>
                </a:solidFill>
              </a:rPr>
              <a:t>backdrop-filter: blur(16px) with translucent cyber panels.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ES6+ JavaScript: </a:t>
            </a:r>
            <a:r>
              <a:rPr b="0">
                <a:solidFill>
                  <a:srgbClr val="F8FAFC"/>
                </a:solidFill>
              </a:rPr>
              <a:t>Modular async/await client architecture without framework bloat.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Client Telemetry API: </a:t>
            </a:r>
            <a:r>
              <a:rPr b="0">
                <a:solidFill>
                  <a:srgbClr val="F8FAFC"/>
                </a:solidFill>
              </a:rPr>
              <a:t>Browser Navigator &amp; Performance API for zero-agent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239512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DevOps &amp; Tooling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2628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Git &amp; GitHub: </a:t>
            </a:r>
            <a:r>
              <a:rPr b="0">
                <a:solidFill>
                  <a:srgbClr val="F8FAFC"/>
                </a:solidFill>
              </a:rPr>
              <a:t>Distributed version control, branching &amp; milestone tracking.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Docker &amp; Containers: </a:t>
            </a:r>
            <a:r>
              <a:rPr b="0">
                <a:solidFill>
                  <a:srgbClr val="F8FAFC"/>
                </a:solidFill>
              </a:rPr>
              <a:t>Containerized deployment with portable run scripts.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PowerShell &amp; Bat Automation: </a:t>
            </a:r>
            <a:r>
              <a:rPr b="0">
                <a:solidFill>
                  <a:srgbClr val="F8FAFC"/>
                </a:solidFill>
              </a:rPr>
              <a:t>Automated compile, classpath binding, and startup scripts.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REST Client &amp; Curl: </a:t>
            </a:r>
            <a:r>
              <a:rPr b="0">
                <a:solidFill>
                  <a:srgbClr val="F8FAFC"/>
                </a:solidFill>
              </a:rPr>
              <a:t>API endpoint testing, load emulation, and mock harnesses.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2 •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Database Schema &amp; Entity Relationship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1071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TABLE: NX_USERS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1363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USER_ID </a:t>
            </a:r>
            <a:r>
              <a:rPr b="0">
                <a:solidFill>
                  <a:srgbClr val="F8FAFC"/>
                </a:solidFill>
              </a:rPr>
              <a:t>(NUMBER)
  └ PRIMARY KEY (NX_USER_SEQ)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FULL_NAME </a:t>
            </a:r>
            <a:r>
              <a:rPr b="0">
                <a:solidFill>
                  <a:srgbClr val="F8FAFC"/>
                </a:solidFill>
              </a:rPr>
              <a:t>(VARCHAR2(100))
  └ NOT NULL Employee Full Name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EMAIL </a:t>
            </a:r>
            <a:r>
              <a:rPr b="0">
                <a:solidFill>
                  <a:srgbClr val="F8FAFC"/>
                </a:solidFill>
              </a:rPr>
              <a:t>(VARCHAR2(150))
  └ UNIQUE Corporate Email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USER_PASSWORD </a:t>
            </a:r>
            <a:r>
              <a:rPr b="0">
                <a:solidFill>
                  <a:srgbClr val="F8FAFC"/>
                </a:solidFill>
              </a:rPr>
              <a:t>(VARCHAR2(255))
  └ Secure Credential Hash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USER_ROLE </a:t>
            </a:r>
            <a:r>
              <a:rPr b="0">
                <a:solidFill>
                  <a:srgbClr val="F8FAFC"/>
                </a:solidFill>
              </a:rPr>
              <a:t>(VARCHAR2(20))
  └ DEFAULT 'USER' ('ADMIN' | 'USER')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CREATED_AT </a:t>
            </a:r>
            <a:r>
              <a:rPr b="0">
                <a:solidFill>
                  <a:srgbClr val="F8FAFC"/>
                </a:solidFill>
              </a:rPr>
              <a:t>(TIMESTAMP)
  └ DEFAULT CURRENT_TIMESTAMP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41071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TABLE: NX_TECHNICIANS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363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TECHNICIAN_ID </a:t>
            </a:r>
            <a:r>
              <a:rPr b="0">
                <a:solidFill>
                  <a:srgbClr val="F8FAFC"/>
                </a:solidFill>
              </a:rPr>
              <a:t>(NUMBER)
  └ PRIMARY KEY (NX_TECH_SEQ)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FULL_NAME </a:t>
            </a:r>
            <a:r>
              <a:rPr b="0">
                <a:solidFill>
                  <a:srgbClr val="F8FAFC"/>
                </a:solidFill>
              </a:rPr>
              <a:t>(VARCHAR2(100))
  └ NOT NULL Specialist Name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EMAIL </a:t>
            </a:r>
            <a:r>
              <a:rPr b="0">
                <a:solidFill>
                  <a:srgbClr val="F8FAFC"/>
                </a:solidFill>
              </a:rPr>
              <a:t>(VARCHAR2(150))
  └ UNIQUE Contact Email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SPECIALIZATION </a:t>
            </a:r>
            <a:r>
              <a:rPr b="0">
                <a:solidFill>
                  <a:srgbClr val="F8FAFC"/>
                </a:solidFill>
              </a:rPr>
              <a:t>(VARCHAR2(100))
  └ Hardware | Network | Software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STATUS </a:t>
            </a:r>
            <a:r>
              <a:rPr b="0">
                <a:solidFill>
                  <a:srgbClr val="F8FAFC"/>
                </a:solidFill>
              </a:rPr>
              <a:t>(VARCHAR2(20))
  └ AVAILABLE | BUSY | OFFLINE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CREATED_AT </a:t>
            </a:r>
            <a:r>
              <a:rPr b="0">
                <a:solidFill>
                  <a:srgbClr val="F8FAFC"/>
                </a:solidFill>
              </a:rPr>
              <a:t>(TIMESTAMP)
  └ DEFAULT CURRENT_TIMESTAMP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41071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TABLE: NX_TICKETS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48840"/>
            <a:ext cx="313639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TICKET_ID </a:t>
            </a:r>
            <a:r>
              <a:rPr b="0">
                <a:solidFill>
                  <a:srgbClr val="F8FAFC"/>
                </a:solidFill>
              </a:rPr>
              <a:t>(NUMBER)
  └ PRIMARY KEY (NX_TICKET_SEQ)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USER_ID </a:t>
            </a:r>
            <a:r>
              <a:rPr b="0">
                <a:solidFill>
                  <a:srgbClr val="F8FAFC"/>
                </a:solidFill>
              </a:rPr>
              <a:t>(NUMBER)
  └ FK -&gt; NX_USERS(USER_ID)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TECHNICIAN_ID </a:t>
            </a:r>
            <a:r>
              <a:rPr b="0">
                <a:solidFill>
                  <a:srgbClr val="F8FAFC"/>
                </a:solidFill>
              </a:rPr>
              <a:t>(NUMBER)
  └ FK -&gt; NX_TECHNICIANS(TECHNICIAN_ID)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TITLE &amp; DESC </a:t>
            </a:r>
            <a:r>
              <a:rPr b="0">
                <a:solidFill>
                  <a:srgbClr val="F8FAFC"/>
                </a:solidFill>
              </a:rPr>
              <a:t>(VARCHAR2)
  └ Problem Title &amp; Full Symptom Log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CATEGORY &amp; PRIORITY </a:t>
            </a:r>
            <a:r>
              <a:rPr b="0">
                <a:solidFill>
                  <a:srgbClr val="F8FAFC"/>
                </a:solidFill>
              </a:rPr>
              <a:t>(VARCHAR2)
  └ Network/HW/SW &amp; LOW/MED/HIGH/CRIT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STATUS </a:t>
            </a:r>
            <a:r>
              <a:rPr b="0">
                <a:solidFill>
                  <a:srgbClr val="F8FAFC"/>
                </a:solidFill>
              </a:rPr>
              <a:t>(VARCHAR2(20))
  └ OPEN | IN_PROGRESS | WAITING | RESOLVED</a:t>
            </a:r>
          </a:p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• SLA &amp; METADATA </a:t>
            </a:r>
            <a:r>
              <a:rPr b="0">
                <a:solidFill>
                  <a:srgbClr val="F8FAFC"/>
                </a:solidFill>
              </a:rPr>
              <a:t>(DYNAMIC / JSON)
  └ Blast Score, Telemetry, SLA Target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2 • 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Quality Assurance &amp; Testing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39512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AI Diagnostics Regex Engine: </a:t>
            </a:r>
            <a:r>
              <a:rPr b="0">
                <a:solidFill>
                  <a:srgbClr val="F8FAFC"/>
                </a:solidFill>
              </a:rPr>
              <a:t>Validated pattern matching across 40+ symptom permutations (Wi-Fi dropouts, VPN handshakes, thermal throttling).</a:t>
            </a:r>
          </a:p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Blast Radius Calculator: </a:t>
            </a:r>
            <a:r>
              <a:rPr b="0">
                <a:solidFill>
                  <a:srgbClr val="F8FAFC"/>
                </a:solidFill>
              </a:rPr>
              <a:t>Verified that (Scope × Blocker severity) produces accurate 0-100 scores and assigns appropriate SLA priorities.</a:t>
            </a:r>
          </a:p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SLA Target Countdown Logic: </a:t>
            </a:r>
            <a:r>
              <a:rPr b="0">
                <a:solidFill>
                  <a:srgbClr val="F8FAFC"/>
                </a:solidFill>
              </a:rPr>
              <a:t>Tested boundary conditions for Critical (4h), High (8h), Medium (24h), and Low (48h) deadlines.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3951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Integration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Oracle JDBC Connectivity: </a:t>
            </a:r>
            <a:r>
              <a:rPr b="0">
                <a:solidFill>
                  <a:srgbClr val="F8FAFC"/>
                </a:solidFill>
              </a:rPr>
              <a:t>Tested connection pool creation, reconnect on socket drop, and fallback sequence retrieval on Oracle XE.</a:t>
            </a:r>
          </a:p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REST API Payload Validation: </a:t>
            </a:r>
            <a:r>
              <a:rPr b="0">
                <a:solidFill>
                  <a:srgbClr val="F8FAFC"/>
                </a:solidFill>
              </a:rPr>
              <a:t>Tested JSON parsing, URL query string decoding, and CORS header compliance for cross-origin callers.</a:t>
            </a:r>
          </a:p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Relational JOIN Integrity: </a:t>
            </a:r>
            <a:r>
              <a:rPr b="0">
                <a:solidFill>
                  <a:srgbClr val="F8FAFC"/>
                </a:solidFill>
              </a:rPr>
              <a:t>Verified that ticket queues properly join requester details and assigned technician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5239512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System &amp; E2E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User Issue-to-Deflection Flow: </a:t>
            </a:r>
            <a:r>
              <a:rPr b="0">
                <a:solidFill>
                  <a:srgbClr val="F8FAFC"/>
                </a:solidFill>
              </a:rPr>
              <a:t>Verified end-to-end journey where user inputs symptoms, executes self-fix runbook, and deflects ticket.</a:t>
            </a:r>
          </a:p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Technician Kanban Dispatch Flow: </a:t>
            </a:r>
            <a:r>
              <a:rPr b="0">
                <a:solidFill>
                  <a:srgbClr val="F8FAFC"/>
                </a:solidFill>
              </a:rPr>
              <a:t>Validated status transitions (OPEN -&gt; IN_PROGRESS -&gt; RESOLVED) and real-time UI refresh.</a:t>
            </a:r>
          </a:p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Collaboration Thread Audit: </a:t>
            </a:r>
            <a:r>
              <a:rPr b="0">
                <a:solidFill>
                  <a:srgbClr val="F8FAFC"/>
                </a:solidFill>
              </a:rPr>
              <a:t>Verified role isolation: public users cannot view internal tech-only notes.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239512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Performance &amp; Concurrency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2628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CachedThreadPool Stress: </a:t>
            </a:r>
            <a:r>
              <a:rPr b="0">
                <a:solidFill>
                  <a:srgbClr val="F8FAFC"/>
                </a:solidFill>
              </a:rPr>
              <a:t>Simulated 100 concurrent HTTP requests to /api/system/status and /api/ai/diagnose with &lt; 15ms response latency.</a:t>
            </a:r>
          </a:p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Memory Leak Verification: </a:t>
            </a:r>
            <a:r>
              <a:rPr b="0">
                <a:solidFill>
                  <a:srgbClr val="F8FAFC"/>
                </a:solidFill>
              </a:rPr>
              <a:t>Monitored JVM heap across 1,000 ticket operations; verified zero memory leaks in ConcurrentHashMap store.</a:t>
            </a:r>
          </a:p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• Browser Telemetry Accuracy: </a:t>
            </a:r>
            <a:r>
              <a:rPr b="0">
                <a:solidFill>
                  <a:srgbClr val="F8FAFC"/>
                </a:solidFill>
              </a:rPr>
              <a:t>Benchmarked navigator client telemetry snapshot across Chrome, Edge, and Firefox.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3 • PROBLEM-SOLVING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Problem-Solving &amp; Bug Fixes: Technical Challenges (Part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395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39512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CHALLENGE 1: Oracle XE Connection &amp; Generated Key 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737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The Challenge: </a:t>
            </a:r>
            <a:r>
              <a:rPr b="0">
                <a:solidFill>
                  <a:srgbClr val="F8FAFC"/>
                </a:solidFill>
              </a:rPr>
              <a:t>In Oracle Database XE, standard JDBC `getGeneratedKeys()` can fail or return non-standard row IDs depending on the driver version and table sequence triggers.</a:t>
            </a:r>
          </a:p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Impact: </a:t>
            </a:r>
            <a:r>
              <a:rPr b="0">
                <a:solidFill>
                  <a:srgbClr val="F8FAFC"/>
                </a:solidFill>
              </a:rPr>
              <a:t>When users created tickets, the backend failed to return the newly generated `TICKET_ID`, causing ticket creation to throw an unhandled 500 error.</a:t>
            </a:r>
          </a:p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Resolution Strategy: </a:t>
            </a:r>
            <a:r>
              <a:rPr b="0">
                <a:solidFill>
                  <a:srgbClr val="F8FAFC"/>
                </a:solidFill>
              </a:rPr>
              <a:t>Implemented a 2-stage defensive strategy in `TicketService.java`: first attempts `prepareStatement(sql, new String[]{'TICKET_ID'})`, and if empty, automatically triggers a fallback query: `SELECT MAX(TICKET_ID) FROM NX_TICKETS WHERE CREATED_BY = ?` within the same transaction.</a:t>
            </a:r>
          </a:p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Outcome: </a:t>
            </a:r>
            <a:r>
              <a:rPr b="0">
                <a:solidFill>
                  <a:srgbClr val="F8FAFC"/>
                </a:solidFill>
              </a:rPr>
              <a:t>100% reliable ticket ID generation across all versions of Oracle Database XE / Cloud ADB.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395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39512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CHALLENGE 2: The '20-Questions' Hardware Telemetry Blindspot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737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The Challenge: </a:t>
            </a:r>
            <a:r>
              <a:rPr b="0">
                <a:solidFill>
                  <a:srgbClr val="F8FAFC"/>
                </a:solidFill>
              </a:rPr>
              <a:t>End users reported vague issues like 'My computer is freezing' or 'Internet broken', forcing technicians to spend 2-3 days asking basic questions regarding OS, IP, RAM, and browser.</a:t>
            </a:r>
          </a:p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Impact: </a:t>
            </a:r>
            <a:r>
              <a:rPr b="0">
                <a:solidFill>
                  <a:srgbClr val="F8FAFC"/>
                </a:solidFill>
              </a:rPr>
              <a:t>Inflated MTTR (Mean Time to Resolution) and severe technician frustration.</a:t>
            </a:r>
          </a:p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Resolution Strategy: </a:t>
            </a:r>
            <a:r>
              <a:rPr b="0">
                <a:solidFill>
                  <a:srgbClr val="F8FAFC"/>
                </a:solidFill>
              </a:rPr>
              <a:t>Engineered the 'Digital Device Passport': client-side JavaScript module that captures navigator hardware concurrency, device memory (RAM), network round-trip latency, screen resolution, and OS user agent into a non-intrusive JSON snapshot.</a:t>
            </a:r>
          </a:p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Outcome: </a:t>
            </a:r>
            <a:r>
              <a:rPr b="0">
                <a:solidFill>
                  <a:srgbClr val="F8FAFC"/>
                </a:solidFill>
              </a:rPr>
              <a:t>Every ticket carries instant, verified hardware context; eliminated 90% of back-and-forth diagnostic queries.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3 • PROBLEM-SOLVING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Problem-Solving &amp; Bug Fixes: Technical Challenges (Part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395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3951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CHALLENGE 3: Subjective Priority Inflation ('Cry Wolf Syndrome')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737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The Challenge: </a:t>
            </a:r>
            <a:r>
              <a:rPr b="0">
                <a:solidFill>
                  <a:srgbClr val="F8FAFC"/>
                </a:solidFill>
              </a:rPr>
              <a:t>In standard ticketing portals, end users invariably tag their tickets as 'CRITICAL' or 'URGENT', rendering priority sorting meaningless.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Impact: </a:t>
            </a:r>
            <a:r>
              <a:rPr b="0">
                <a:solidFill>
                  <a:srgbClr val="F8FAFC"/>
                </a:solidFill>
              </a:rPr>
              <a:t>Actual production outages were buried under routine mouse or password reset requests.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Resolution Strategy: </a:t>
            </a:r>
            <a:r>
              <a:rPr b="0">
                <a:solidFill>
                  <a:srgbClr val="F8FAFC"/>
                </a:solidFill>
              </a:rPr>
              <a:t>Created an objective 2D 'Blast Radius &amp; Impact Matrix'. Instead of asking for priority, the UI asks two factual questions: Scope (Just Me -&gt; Entire Org) and Work Blocker (Minor -&gt; Data Risk). The algorithm computes an Impact Score (0-100) and locks the true SLA priority.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Outcome: </a:t>
            </a:r>
            <a:r>
              <a:rPr b="0">
                <a:solidFill>
                  <a:srgbClr val="F8FAFC"/>
                </a:solidFill>
              </a:rPr>
              <a:t>Eliminated subjective priority inflation; critical tickets now represent genuine high-blast-radius incidents.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395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3951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CHALLENGE 4: Repetitive Ticket Volume &amp; Slow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737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The Challenge: </a:t>
            </a:r>
            <a:r>
              <a:rPr b="0">
                <a:solidFill>
                  <a:srgbClr val="F8FAFC"/>
                </a:solidFill>
              </a:rPr>
              <a:t>Over 60% of all submitted tickets were routine issues (DNS cache lockup, VPN split-tunnel stalls, Teams cache corruption).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Impact: </a:t>
            </a:r>
            <a:r>
              <a:rPr b="0">
                <a:solidFill>
                  <a:srgbClr val="F8FAFC"/>
                </a:solidFill>
              </a:rPr>
              <a:t>IT dispatchers were overwhelmed with repetitive copy-pasting of identical troubleshooting steps.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Resolution Strategy: </a:t>
            </a:r>
            <a:r>
              <a:rPr b="0">
                <a:solidFill>
                  <a:srgbClr val="F8FAFC"/>
                </a:solidFill>
              </a:rPr>
              <a:t>Developed the Real-Time AI Co-Pilot Diagnostic Engine. As the user types their symptoms, the client analyzes keywords, displays instant step-by-step runbooks, provides copyable PowerShell/Bash fix commands, and offers a 'Yes, Problem Solved! (Zero-Ticket)' deflection button.</a:t>
            </a:r>
          </a:p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Outcome: </a:t>
            </a:r>
            <a:r>
              <a:rPr b="0">
                <a:solidFill>
                  <a:srgbClr val="F8FAFC"/>
                </a:solidFill>
              </a:rPr>
              <a:t>Over 148 tickets deflected before hitting the queue, saving an estimated 74 hours of engineering labor.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4 • FEEDBACK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Feedback Integration: Enhancements Implemented from Review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39512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 1 Feedback: Clunky &amp; Static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i="1">
                <a:solidFill>
                  <a:srgbClr val="F59E0B"/>
                </a:solidFill>
              </a:defRPr>
            </a:pPr>
            <a:r>
              <a:t>Mentor Critique: "Evaluators noted that standard ticketing portals feel like dull accounting software."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Redesigned the entire frontend with an ultra-modern Glassmorphic Cyber-Clean Theme (`backdrop-filter: blur(16px)`).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Implemented a 1-click Light/Dark theme toggle with persistent CSS variable tokens.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Replaced static HTML tables with an interactive Mission Control Kanban Dispatch Cockpit with visual SLA 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39512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 1 Feedback: Need Proactive Ticket Deflection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29968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i="1">
                <a:solidFill>
                  <a:srgbClr val="F59E0B"/>
                </a:solidFill>
              </a:defRPr>
            </a:pPr>
            <a:r>
              <a:t>Mentor Critique: "Reviewers stressed that modern IT service management must prevent tickets rather than just log them."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Introduced Real-Time AI Symptom Triage that displays diagnostic runbooks as the user types.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Added 1-click PowerShell/CMD fix commands and a '🎉 Yes, Problem Solved!' deflection button.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Built a dedicated deflection counter in IT Ops Analytics showing hours saved.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523951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 1 Feedback: Diagnostic Context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i="1">
                <a:solidFill>
                  <a:srgbClr val="F59E0B"/>
                </a:solidFill>
              </a:defRPr>
            </a:pPr>
            <a:r>
              <a:t>Mentor Critique: "Mentors highlighted that technician time is wasted asking users for OS and network configurations."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Created the 'Digital Device Passport' auto-snapshot capturing OS, RAM, Latency, and Screen specs.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Embedded interactive telemetry chips inside the ticket detail modal for technician inspection.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Added an opt-out toggle to respect employee privacy.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239512" cy="411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Review 1 Feedback: Internal vs. External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98848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i="1">
                <a:solidFill>
                  <a:srgbClr val="F59E0B"/>
                </a:solidFill>
              </a:defRPr>
            </a:pPr>
            <a:r>
              <a:t>Mentor Critique: "Reviewers pointed out that technicians need a private space to discuss tickets without confusing end-users."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Built a Two-Way Discussion Thread with a dedicated '🔒 Internal Tech-Only Note' checkbox.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Implemented role-gated visibility: end-users see public updates; internal notes are restricted to admins/technicians.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✔ Added AI-assisted technician response drafting to speed up communication.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5 • ROADMAP TO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Roadmap to Completion: Workstreams &amp; Sprint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410712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SPRINT 7: ADVANCED AI &amp; NLP (WEEKS 8-9)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363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External LLM Integration: </a:t>
            </a:r>
            <a:r>
              <a:rPr b="0">
                <a:solidFill>
                  <a:srgbClr val="F8FAFC"/>
                </a:solidFill>
              </a:rPr>
              <a:t>Connect Google Gemini / OpenAI API for complex, multi-paragraph log file analysis and code stack-trace debugging.</a:t>
            </a:r>
          </a:p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Voice-to-Ticket Transcription: </a:t>
            </a:r>
            <a:r>
              <a:rPr b="0">
                <a:solidFill>
                  <a:srgbClr val="F8FAFC"/>
                </a:solidFill>
              </a:rPr>
              <a:t>Allow employees to dictate tickets using Web Speech API with automatic summarization.</a:t>
            </a:r>
          </a:p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Semantic Similar Ticket Search: </a:t>
            </a:r>
            <a:r>
              <a:rPr b="0">
                <a:solidFill>
                  <a:srgbClr val="F8FAFC"/>
                </a:solidFill>
              </a:rPr>
              <a:t>Detect duplicate company-wide incidents using vector embeddings and cluster notifications.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410712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SPRINT 8: ENTERPRISE NOTIFICATIONS (WEEKS 9-10)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1363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Automated Email / SMTP Alerts: </a:t>
            </a:r>
            <a:r>
              <a:rPr b="0">
                <a:solidFill>
                  <a:srgbClr val="F8FAFC"/>
                </a:solidFill>
              </a:rPr>
              <a:t>Dispatch instant email notifications on ticket assignment, SLA breach warnings, and user replies.</a:t>
            </a:r>
          </a:p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Slack / MS Teams Webhook Bot: </a:t>
            </a:r>
            <a:r>
              <a:rPr b="0">
                <a:solidFill>
                  <a:srgbClr val="F8FAFC"/>
                </a:solidFill>
              </a:rPr>
              <a:t>Broadcast Critical incident alerts into dedicated IT Ops Slack/Teams incident channels.</a:t>
            </a:r>
          </a:p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Multi-Factor Authentication (MFA): </a:t>
            </a:r>
            <a:r>
              <a:rPr b="0">
                <a:solidFill>
                  <a:srgbClr val="F8FAFC"/>
                </a:solidFill>
              </a:rPr>
              <a:t>Implement TOTP authenticator app support for privileged IT Administrator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107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410712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SPRINT 9: FLEET AUTOMATION (WEEKS 10-11)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94560"/>
            <a:ext cx="313639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One-Click Remote Remediation: </a:t>
            </a:r>
            <a:r>
              <a:rPr b="0">
                <a:solidFill>
                  <a:srgbClr val="F8FAFC"/>
                </a:solidFill>
              </a:rPr>
              <a:t>Allow technicians to trigger verified PowerShell agent scripts directly from the Kanban detail modal.</a:t>
            </a:r>
          </a:p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Asset Management CMDB: </a:t>
            </a:r>
            <a:r>
              <a:rPr b="0">
                <a:solidFill>
                  <a:srgbClr val="F8FAFC"/>
                </a:solidFill>
              </a:rPr>
              <a:t>Link hardware serial numbers, warranty status, and department inventory to user profiles.</a:t>
            </a:r>
          </a:p>
          <a:p>
            <a:pPr>
              <a:spcAft>
                <a:spcPts val="1000"/>
              </a:spcAft>
              <a:defRPr sz="1000" b="1">
                <a:solidFill>
                  <a:srgbClr val="F59E0B"/>
                </a:solidFill>
              </a:defRPr>
            </a:pPr>
            <a:r>
              <a:t>• Automated SLA Escalation: </a:t>
            </a:r>
            <a:r>
              <a:rPr b="0">
                <a:solidFill>
                  <a:srgbClr val="F8FAFC"/>
                </a:solidFill>
              </a:rPr>
              <a:t>Reassign unacknowledged tickets automatically after 50% of the SLA deadline has elapsed.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5 • FINAL 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Roadmap to Completion: Final Testing &amp; Quality Assurance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39512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Performance &amp; Load Stress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Simulate 500+ concurrent simulated users and technicians using Apache JMeter.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Verify server response time remains under 50ms under peak burst ticket creation.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Profile Oracle XE connection pool under sustained multi-threaded read/write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39512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Security &amp; Vulnerability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Penetration testing: SQL injection prevention via strictly parameterized queries.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Cross-Site Scripting (XSS) defense: input sanitization in ticket descriptions and comments.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Role privilege escalation testing: ensure standard users cannot access /api/admin/* endpoints.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5239512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Cross-Browser &amp; Device Compatibility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Audit UI rendering across Google Chrome, Mozilla Firefox, Microsoft Edge, and Apple Safari.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Responsive viewport testing: Desktop (1920x1080), Tablet (1024x768), and Mobile (375x812).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Verify hardware telemetry gathering consistency across Windows, macOS, and Linux.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39512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239512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Database Disaster Recovery &amp; 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26280"/>
            <a:ext cx="48737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Test Oracle XE RMAN export / backup routines and snapshot restoration.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Validate graceful error handling and offline queuing if the database server temporarily drops.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Verify zero data loss in audit log timestamps and sequence numbers.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POINT 5 • DELIVERABLES FOR FINAL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Final Review Deliverables &amp; Expected Project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395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39512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📦 Deliverables Required for Final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737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0B981"/>
                </a:solidFill>
              </a:defRPr>
            </a:pPr>
            <a:r>
              <a:t>☑ Production-Ready Source Code</a:t>
            </a:r>
            <a:br/>
            <a:r>
              <a:rPr b="0">
                <a:solidFill>
                  <a:srgbClr val="F8FAFC"/>
                </a:solidFill>
              </a:rPr>
              <a:t>   Complete Java 21+ backend, clean vanilla frontend, and Oracle SQL schema scripts in GitHub repository.</a:t>
            </a:r>
          </a:p>
          <a:p>
            <a:pPr>
              <a:spcAft>
                <a:spcPts val="700"/>
              </a:spcAft>
              <a:defRPr sz="1000" b="1">
                <a:solidFill>
                  <a:srgbClr val="10B981"/>
                </a:solidFill>
              </a:defRPr>
            </a:pPr>
            <a:r>
              <a:t>☑ One-Click Runnable Package</a:t>
            </a:r>
            <a:br/>
            <a:r>
              <a:rPr b="0">
                <a:solidFill>
                  <a:srgbClr val="F8FAFC"/>
                </a:solidFill>
              </a:rPr>
              <a:t>   Automated Windows bat/PowerShell launch script and standalone Dockerfile for zero-friction evaluation.</a:t>
            </a:r>
          </a:p>
          <a:p>
            <a:pPr>
              <a:spcAft>
                <a:spcPts val="700"/>
              </a:spcAft>
              <a:defRPr sz="1000" b="1">
                <a:solidFill>
                  <a:srgbClr val="10B981"/>
                </a:solidFill>
              </a:defRPr>
            </a:pPr>
            <a:r>
              <a:t>☑ Comprehensive Technical Report</a:t>
            </a:r>
            <a:br/>
            <a:r>
              <a:rPr b="0">
                <a:solidFill>
                  <a:srgbClr val="F8FAFC"/>
                </a:solidFill>
              </a:rPr>
              <a:t>   Detailed IEEE-format architecture document, class diagrams, ER models, and API specifications.</a:t>
            </a:r>
          </a:p>
          <a:p>
            <a:pPr>
              <a:spcAft>
                <a:spcPts val="700"/>
              </a:spcAft>
              <a:defRPr sz="1000" b="1">
                <a:solidFill>
                  <a:srgbClr val="10B981"/>
                </a:solidFill>
              </a:defRPr>
            </a:pPr>
            <a:r>
              <a:t>☑ User &amp; Administrator Manuals</a:t>
            </a:r>
            <a:br/>
            <a:r>
              <a:rPr b="0">
                <a:solidFill>
                  <a:srgbClr val="F8FAFC"/>
                </a:solidFill>
              </a:rPr>
              <a:t>   Step-by-step illustrated guides for both employees (reporting &amp; self-fix) and IT dispatchers (Kanban &amp; telemetry).</a:t>
            </a:r>
          </a:p>
          <a:p>
            <a:pPr>
              <a:spcAft>
                <a:spcPts val="700"/>
              </a:spcAft>
              <a:defRPr sz="1000" b="1">
                <a:solidFill>
                  <a:srgbClr val="10B981"/>
                </a:solidFill>
              </a:defRPr>
            </a:pPr>
            <a:r>
              <a:t>☑ Live Demonstration &amp; Test Data</a:t>
            </a:r>
            <a:br/>
            <a:r>
              <a:rPr b="0">
                <a:solidFill>
                  <a:srgbClr val="F8FAFC"/>
                </a:solidFill>
              </a:rPr>
              <a:t>   Pre-seeded database with realistic IT users, specialist technicians, and historical ticket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395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39512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🎯 Target KPIs &amp; Evaluation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48737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F59E0B"/>
                </a:solidFill>
              </a:defRPr>
            </a:pPr>
            <a:r>
              <a:t>📊 Mean Time to Resolution (MTTR): </a:t>
            </a:r>
            <a:r>
              <a:rPr b="1">
                <a:solidFill>
                  <a:srgbClr val="10B981"/>
                </a:solidFill>
              </a:rPr>
              <a:t>&lt; 2.0 Hours
</a:t>
            </a:r>
            <a:r>
              <a:rPr b="0">
                <a:solidFill>
                  <a:srgbClr val="F8FAFC"/>
                </a:solidFill>
              </a:rPr>
              <a:t>   Impact: Targeting 60% faster resolution compared to standard industry baseline of 5.2h.</a:t>
            </a:r>
          </a:p>
          <a:p>
            <a:pPr>
              <a:spcAft>
                <a:spcPts val="1000"/>
              </a:spcAft>
              <a:defRPr sz="1050" b="1">
                <a:solidFill>
                  <a:srgbClr val="F59E0B"/>
                </a:solidFill>
              </a:defRPr>
            </a:pPr>
            <a:r>
              <a:t>📊 Zero-Ticket Deflection Rate: </a:t>
            </a:r>
            <a:r>
              <a:rPr b="1">
                <a:solidFill>
                  <a:srgbClr val="10B981"/>
                </a:solidFill>
              </a:rPr>
              <a:t>&gt; 30.0%
</a:t>
            </a:r>
            <a:r>
              <a:rPr b="0">
                <a:solidFill>
                  <a:srgbClr val="F8FAFC"/>
                </a:solidFill>
              </a:rPr>
              <a:t>   Impact: Deflecting common network, VPN, and credential inquiries via interactive runbooks.</a:t>
            </a:r>
          </a:p>
          <a:p>
            <a:pPr>
              <a:spcAft>
                <a:spcPts val="1000"/>
              </a:spcAft>
              <a:defRPr sz="1050" b="1">
                <a:solidFill>
                  <a:srgbClr val="F59E0B"/>
                </a:solidFill>
              </a:defRPr>
            </a:pPr>
            <a:r>
              <a:t>📊 SLA Adherence Compliance: </a:t>
            </a:r>
            <a:r>
              <a:rPr b="1">
                <a:solidFill>
                  <a:srgbClr val="10B981"/>
                </a:solidFill>
              </a:rPr>
              <a:t>≥ 95.0%
</a:t>
            </a:r>
            <a:r>
              <a:rPr b="0">
                <a:solidFill>
                  <a:srgbClr val="F8FAFC"/>
                </a:solidFill>
              </a:rPr>
              <a:t>   Impact: Enforcing strict 4h (Critical) and 8h (High) resolution countdowns via Kanban cockpit.</a:t>
            </a:r>
          </a:p>
          <a:p>
            <a:pPr>
              <a:spcAft>
                <a:spcPts val="1000"/>
              </a:spcAft>
              <a:defRPr sz="1050" b="1">
                <a:solidFill>
                  <a:srgbClr val="F59E0B"/>
                </a:solidFill>
              </a:defRPr>
            </a:pPr>
            <a:r>
              <a:t>📊 First Contact Resolution (FCR): </a:t>
            </a:r>
            <a:r>
              <a:rPr b="1">
                <a:solidFill>
                  <a:srgbClr val="10B981"/>
                </a:solidFill>
              </a:rPr>
              <a:t>≥ 75.0%
</a:t>
            </a:r>
            <a:r>
              <a:rPr b="0">
                <a:solidFill>
                  <a:srgbClr val="F8FAFC"/>
                </a:solidFill>
              </a:rPr>
              <a:t>   Impact: Empowering technicians with instant device telemetry and automated fix scripts on first touch.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821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13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Thank You! 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6B6D4"/>
                </a:solidFill>
              </a:defRPr>
            </a:pPr>
            <a:r>
              <a:t>NexDesk 2.0 transforms enterprise IT service management from passive logging into an autonomous, self-healing, data-driven operational cockpit.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931920"/>
            <a:ext cx="192024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✔ Java 21+ &amp; Oracle XE 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931920"/>
            <a:ext cx="192024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✔ AI Self-Healing &amp; Deflection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192024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✔ Digital Device Passport Built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931920"/>
            <a:ext cx="192024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✔ Mission Control Kanban Operational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